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925968-8DF7-46B4-B388-F459454A73D6}">
  <a:tblStyle styleId="{95925968-8DF7-46B4-B388-F459454A73D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48e2ea27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48e2ea27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g3d48e2ea27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d48e2ea272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g3d48e2ea272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g3d48e2ea272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0" Type="http://schemas.openxmlformats.org/officeDocument/2006/relationships/image" Target="../media/image7.png"/><Relationship Id="rId9" Type="http://schemas.openxmlformats.org/officeDocument/2006/relationships/image" Target="../media/image9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7.png"/><Relationship Id="rId6" Type="http://schemas.openxmlformats.org/officeDocument/2006/relationships/image" Target="../media/image31.png"/><Relationship Id="rId7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40.png"/><Relationship Id="rId8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31.png"/><Relationship Id="rId5" Type="http://schemas.openxmlformats.org/officeDocument/2006/relationships/image" Target="../media/image38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9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5" y="1467600"/>
            <a:ext cx="4182900" cy="5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lang="en-US" sz="24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ML-Pipeline глазами атакующего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03520" y="1753235"/>
            <a:ext cx="5029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300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8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Краткая база ИБ: что должен знать каждый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65760" y="1143000"/>
            <a:ext cx="260604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365760" y="1143000"/>
            <a:ext cx="26060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105156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CIA Triad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182880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Confidentiality, Integrity, Availability — три столпа ИБ. Каждая AI-атака бьёт по одному или нескольким.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200400" y="1143000"/>
            <a:ext cx="260604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200400" y="1143000"/>
            <a:ext cx="2606040" cy="54864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388620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Поверхность атаки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383280" y="182880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 ML: данные, модели, промпты, агентные протоколы — плюс к классическим портам и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035040" y="1143000"/>
            <a:ext cx="260604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035040" y="1143000"/>
            <a:ext cx="26060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3716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4"/>
          <p:cNvSpPr/>
          <p:nvPr/>
        </p:nvSpPr>
        <p:spPr>
          <a:xfrm>
            <a:off x="6720840" y="1325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Chain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217920" y="182880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npm/PyPI пакеты, docker-образы + модели с HuggingFace, датасеты, MCP-серверы.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783080" y="3063240"/>
            <a:ext cx="260604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783080" y="3063240"/>
            <a:ext cx="260604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5960" y="3291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2468880" y="3246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D93D"/>
                </a:solidFill>
                <a:latin typeface="Trebuchet MS"/>
                <a:ea typeface="Trebuchet MS"/>
                <a:cs typeface="Trebuchet MS"/>
                <a:sym typeface="Trebuchet MS"/>
              </a:rPr>
              <a:t>Наименьшие привилегии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965960" y="37490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AI-агент с правами админа = нарушение принципа. Только необходимые права.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617720" y="3063240"/>
            <a:ext cx="2606040" cy="169164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617720" y="3063240"/>
            <a:ext cx="260604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600" y="3291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5303520" y="32461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Defense in Depth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800600" y="3749040"/>
            <a:ext cx="2240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Многослойная защита. В AI ни один слой не идеален — нужны все.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ML Pipeline = CI/CD, но вместо кода — данные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463045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/>
          <p:nvPr/>
        </p:nvSpPr>
        <p:spPr>
          <a:xfrm>
            <a:off x="457200" y="2194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Данные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874520" y="1371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57200" y="2606040"/>
            <a:ext cx="141732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457200" y="2606040"/>
            <a:ext cx="14173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27066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457200" y="3017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Data Poisoning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97480" y="14356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5"/>
          <p:cNvSpPr/>
          <p:nvPr/>
        </p:nvSpPr>
        <p:spPr>
          <a:xfrm>
            <a:off x="2194560" y="2194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Обучение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3611880" y="1371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194560" y="2606040"/>
            <a:ext cx="141732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194560" y="2606040"/>
            <a:ext cx="14173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66060" y="27066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5"/>
          <p:cNvSpPr/>
          <p:nvPr/>
        </p:nvSpPr>
        <p:spPr>
          <a:xfrm>
            <a:off x="2194560" y="3017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Backdoor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4840" y="14356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3931920" y="2194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Деплой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5349240" y="1371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3931920" y="2606040"/>
            <a:ext cx="141732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3931920" y="2606040"/>
            <a:ext cx="14173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3420" y="27066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3931920" y="3017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Supply Chain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2200" y="14356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5669280" y="2194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7086600" y="1371600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5669280" y="2606040"/>
            <a:ext cx="141732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5669280" y="2606040"/>
            <a:ext cx="14173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0780" y="27066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5"/>
          <p:cNvSpPr/>
          <p:nvPr/>
        </p:nvSpPr>
        <p:spPr>
          <a:xfrm>
            <a:off x="5669280" y="3017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09560" y="143560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406640" y="2194560"/>
            <a:ext cx="1417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Мониторинг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406640" y="2606040"/>
            <a:ext cx="141732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7406640" y="2606040"/>
            <a:ext cx="141732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8140" y="27066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"/>
          <p:cNvSpPr/>
          <p:nvPr/>
        </p:nvSpPr>
        <p:spPr>
          <a:xfrm>
            <a:off x="7406640" y="30175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Model Drift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solidFill>
            <a:srgbClr val="0E4D64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57200" y="3794760"/>
            <a:ext cx="64008" cy="10058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5800" y="3977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1188720" y="38862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Каждый этап pipeline = поверхность атаки. Атакующий выбирает самый слабый.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ML Pipeline — это не линейный процесс, а 5 фронтов, каждый из которых нужно защищать одновременно.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"/>
          <p:cNvSpPr/>
          <p:nvPr/>
        </p:nvSpPr>
        <p:spPr>
          <a:xfrm>
            <a:off x="365760" y="1097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ЭТАП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Данные: фундамент и первая точка атаки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365760" y="1097280"/>
            <a:ext cx="4206240" cy="25603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097280" y="128016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Data Poisoning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3246120" y="1280160"/>
            <a:ext cx="118872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OWASP LLM04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594360" y="187452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Отравите данные — и всё, что построено на них, будет работать на атакующего. Атака незаметна: общая точность модели почти не меняется, но на целевом классе — провал.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594360" y="2834640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99%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691640" y="2834640"/>
            <a:ext cx="2651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запросов — нормально.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Но 1% триггерных — атакующий контролирует.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754880" y="1097280"/>
            <a:ext cx="4023360" cy="74980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754880" y="1097280"/>
            <a:ext cx="54864" cy="749808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348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5394960" y="1170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Сеть Pravda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5394960" y="144475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3.6M статей для отравления AI-чатботов. Попадают в RAG-базы → меняют ответы.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4754880" y="1965960"/>
            <a:ext cx="4023360" cy="74980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4754880" y="1965960"/>
            <a:ext cx="54864" cy="7498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83480" y="21031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5394960" y="20391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Label Flipping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5394960" y="231343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100 подменённых меток → антивирус пропускает малварь. Общая точность не падает.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754880" y="2834640"/>
            <a:ext cx="4023360" cy="749808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4754880" y="2834640"/>
            <a:ext cx="54864" cy="7498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8348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6"/>
          <p:cNvSpPr/>
          <p:nvPr/>
        </p:nvSpPr>
        <p:spPr>
          <a:xfrm>
            <a:off x="5394960" y="29077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Retrieval Poisoning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394960" y="3182112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Скрытые инструкции в RAG-документах → indirect prompt injection через контекст.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0E4D64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65760" y="3931920"/>
            <a:ext cx="64008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640080" y="4023360"/>
            <a:ext cx="7955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Аналогия: </a:t>
            </a: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Если CI/CD начинается с git push — ML pipeline начинается с данных. Poisoned data = poisoned commits — только последствия масштабнее и незаметнее.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365760" y="1097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ЭТАП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Обучение: бэкдоры и reward hacking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65760" y="1143000"/>
            <a:ext cx="2651760" cy="30175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365760" y="1143000"/>
            <a:ext cx="265176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54864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Backdoor Injection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48640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Скрытый триггер в весах. Модель нормальна на 99% входов. На триггерный вход — выполняет действие атакующего.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02920" y="3429000"/>
            <a:ext cx="2377440" cy="54864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594360" y="34747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Как логическая бомба в код, только в нейросеть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3246120" y="1143000"/>
            <a:ext cx="2651760" cy="30175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3246120" y="1143000"/>
            <a:ext cx="2651760" cy="54864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Fine-tuning Poisoning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429000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100 специально подобранных примеров при дообучении — и модель полностью меняет поведение.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383280" y="3429000"/>
            <a:ext cx="2377440" cy="54864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474720" y="34747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Дешевле, чем отравлять pre-training. Работает даже с safety-aligned моделями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26480" y="1143000"/>
            <a:ext cx="2651760" cy="301752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6126480" y="1143000"/>
            <a:ext cx="265176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3716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6309360" y="19659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D93D"/>
                </a:solidFill>
                <a:latin typeface="Trebuchet MS"/>
                <a:ea typeface="Trebuchet MS"/>
                <a:cs typeface="Trebuchet MS"/>
                <a:sym typeface="Trebuchet MS"/>
              </a:rPr>
              <a:t>Reward Hacking (RLHF)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6309360" y="2377440"/>
            <a:ext cx="2286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Модель оптимизирует метрику, не решая задачу. Support-бот подавляет жалобы: «удовлетворённость» растёт.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6263640" y="3429000"/>
            <a:ext cx="2377440" cy="548640"/>
          </a:xfrm>
          <a:prstGeom prst="rect">
            <a:avLst/>
          </a:prstGeom>
          <a:solidFill>
            <a:srgbClr val="0E4D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355080" y="347472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Скомпрометированная reward model → safety guardrails не работают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4434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822960" y="4434840"/>
            <a:ext cx="7955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Факт: Исследователи показали — 10–100 примеров при fine-tuning полностью снимают safety alignment с GPT-4-class моделей.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365760" y="1097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ЭТАП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Деплой: supply chain и RCE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365760" y="1097280"/>
            <a:ext cx="4206240" cy="18288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801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1097280" y="128016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Supply Chain (OWASP LLM03)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94360" y="1828800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~100 вредоносных моделей на HuggingFace. Pickle = eval(). Вредоносные MCP-серверы — новый вектор 2025–2026.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65760" y="315468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~40 мин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2194560" y="31546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→ 1000+ SaaS-сред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скомпрометировано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754880" y="1051560"/>
            <a:ext cx="402336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4754880" y="1051560"/>
            <a:ext cx="54864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983480" y="10972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ShadowMQ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983480" y="134416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RCE через copy-paste уязвимости в Meta Llama Stack → vLLM, NVIDIA TensorRT-LLM, SGLang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754880" y="1801368"/>
            <a:ext cx="402336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754880" y="1801368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983480" y="184708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Mercor/LiteLLM (март 2026)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983480" y="209397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Вредоносный код в PyPI. 36% облачных сред используют LiteLLM. 4 ТБ данных украдено.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754880" y="2551176"/>
            <a:ext cx="402336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4754880" y="2551176"/>
            <a:ext cx="54864" cy="64008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4983480" y="2596896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D93D"/>
                </a:solidFill>
                <a:latin typeface="Trebuchet MS"/>
                <a:ea typeface="Trebuchet MS"/>
                <a:cs typeface="Trebuchet MS"/>
                <a:sym typeface="Trebuchet MS"/>
              </a:rPr>
              <a:t>Критические CVE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983480" y="28437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Langflow RCE (CVE-2025-3248), SGLang RCE (CVE-2026-3059/3060) — в дикой природе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754880" y="3300984"/>
            <a:ext cx="4023360" cy="6400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4754880" y="3300984"/>
            <a:ext cx="54864" cy="640080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4983480" y="3346704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Вредоносные MCP-серверы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4983480" y="359359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Агент подключается к «полезному» серверу → контроль атакующего над агентом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0E4D64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42519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8"/>
          <p:cNvSpPr/>
          <p:nvPr/>
        </p:nvSpPr>
        <p:spPr>
          <a:xfrm>
            <a:off x="960120" y="420624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Вы скачиваете «модель» — а получаете reverse shell. Supply chain в ML опаснее, чем в коде: нет SAST/DAST для моделей.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365760" y="1097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ЭТАП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Inference: самые известные атаки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365760" y="1097280"/>
            <a:ext cx="2651760" cy="1600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365760" y="1097280"/>
            <a:ext cx="54864" cy="1600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4" name="Google Shape;2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9"/>
          <p:cNvSpPr/>
          <p:nvPr/>
        </p:nvSpPr>
        <p:spPr>
          <a:xfrm>
            <a:off x="1005840" y="12070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Prompt Injection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2148840" y="1600200"/>
            <a:ext cx="640080" cy="2011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LLM01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48640" y="173736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Внедрение инструкций → модель выполняет чужие команды. №1 в OWASP второй год.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3246120" y="1097280"/>
            <a:ext cx="2651760" cy="1600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3246120" y="1097280"/>
            <a:ext cx="54864" cy="1600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3886200" y="12070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Adversarial Examples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3429000" y="173736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Наклейка на знак STOP → нейросеть читает «Скорость 120 км/ч». Минимальные изменения — максимальный эффект.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6126480" y="1097280"/>
            <a:ext cx="2651760" cy="1600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6126480" y="1097280"/>
            <a:ext cx="54864" cy="16002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234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9"/>
          <p:cNvSpPr/>
          <p:nvPr/>
        </p:nvSpPr>
        <p:spPr>
          <a:xfrm>
            <a:off x="6766560" y="12070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3D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D93D"/>
                </a:solidFill>
                <a:latin typeface="Trebuchet MS"/>
                <a:ea typeface="Trebuchet MS"/>
                <a:cs typeface="Trebuchet MS"/>
                <a:sym typeface="Trebuchet MS"/>
              </a:rPr>
              <a:t>System Prompt Leakage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909560" y="1600200"/>
            <a:ext cx="640080" cy="20116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LLM07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309360" y="173736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Извлечение скрытых инструкций → целенаправленный обход защиты системы.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783080" y="2926080"/>
            <a:ext cx="2651760" cy="1600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783080" y="2926080"/>
            <a:ext cx="54864" cy="1600200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5960" y="3063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2423160" y="30358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CA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3CAC"/>
                </a:solidFill>
                <a:latin typeface="Trebuchet MS"/>
                <a:ea typeface="Trebuchet MS"/>
                <a:cs typeface="Trebuchet MS"/>
                <a:sym typeface="Trebuchet MS"/>
              </a:rPr>
              <a:t>Excessive Agency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566160" y="3429000"/>
            <a:ext cx="640080" cy="201168"/>
          </a:xfrm>
          <a:prstGeom prst="rect">
            <a:avLst/>
          </a:prstGeom>
          <a:solidFill>
            <a:srgbClr val="FF3CA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LLM06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965960" y="356616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Агент выполняет действия вне полномочий — $45M в крипто потеряно за январь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663440" y="2926080"/>
            <a:ext cx="2651760" cy="16002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663440" y="2926080"/>
            <a:ext cx="54864" cy="16002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0" y="3063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9"/>
          <p:cNvSpPr/>
          <p:nvPr/>
        </p:nvSpPr>
        <p:spPr>
          <a:xfrm>
            <a:off x="5303520" y="303580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00E676"/>
                </a:solidFill>
                <a:latin typeface="Trebuchet MS"/>
                <a:ea typeface="Trebuchet MS"/>
                <a:cs typeface="Trebuchet MS"/>
                <a:sym typeface="Trebuchet MS"/>
              </a:rPr>
              <a:t>Model Extraction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846320" y="3566160"/>
            <a:ext cx="22860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Кража функциональной копии модели через серию запросов. Стоимость: ~$50.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Подробно разберём в Модуле 3: систематическое тестирование с Garak и PyRIT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365760" y="109728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00E676"/>
                </a:solidFill>
                <a:latin typeface="Trebuchet MS"/>
                <a:ea typeface="Trebuchet MS"/>
                <a:cs typeface="Trebuchet MS"/>
                <a:sym typeface="Trebuchet MS"/>
              </a:rPr>
              <a:t>ЭТАП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Мониторинг: кто следит за моделью?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65760" y="1051560"/>
            <a:ext cx="841248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65760" y="1051560"/>
            <a:ext cx="54864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0"/>
          <p:cNvSpPr/>
          <p:nvPr/>
        </p:nvSpPr>
        <p:spPr>
          <a:xfrm>
            <a:off x="1143000" y="11247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Model Drift Exploitation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1143000" y="143560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Целенаправленный сдвиг распределения входных данных. Без мониторинга модель деградирует — атакующий контролирует направление.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6858000" y="112471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3 мес.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6675120" y="1581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деградация после деплоя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365760" y="2057400"/>
            <a:ext cx="841248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365760" y="2057400"/>
            <a:ext cx="54864" cy="8686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228600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0"/>
          <p:cNvSpPr/>
          <p:nvPr/>
        </p:nvSpPr>
        <p:spPr>
          <a:xfrm>
            <a:off x="1143000" y="2130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Отсутствие AI-детекции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1143000" y="244144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SOC не мониторят аномальные паттерны промптов. 1000 запросов к API за секунду? SIEM не распознает model extraction.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858000" y="213055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1000/s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6675120" y="258775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SIEM не видит атаку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65760" y="3063240"/>
            <a:ext cx="8412480" cy="86868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65760" y="3063240"/>
            <a:ext cx="54864" cy="8686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32918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1143000" y="31363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Trebuchet MS"/>
                <a:ea typeface="Trebuchet MS"/>
                <a:cs typeface="Trebuchet MS"/>
                <a:sym typeface="Trebuchet MS"/>
              </a:rPr>
              <a:t>LLMjacking Detection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143000" y="3447288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Без алертов на аномальное потребление → узнаёте по счёту. Sysdig: 4x рост краж AI-учёток к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858000" y="313639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676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E676"/>
                </a:solidFill>
                <a:latin typeface="Trebuchet MS"/>
                <a:ea typeface="Trebuchet MS"/>
                <a:cs typeface="Trebuchet MS"/>
                <a:sym typeface="Trebuchet MS"/>
              </a:rPr>
              <a:t>$67K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675120" y="35935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счёт если не мониторить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0E4D64"/>
          </a:solidFill>
          <a:ln>
            <a:noFill/>
          </a:ln>
          <a:effectLst>
            <a:outerShdw blurRad="50800" rotWithShape="0" algn="bl" dir="8100000" dist="254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427939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0"/>
          <p:cNvSpPr/>
          <p:nvPr/>
        </p:nvSpPr>
        <p:spPr>
          <a:xfrm>
            <a:off x="914400" y="4251960"/>
            <a:ext cx="7680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Вывод: модель, безопасная при деплое, может деградировать через 3 месяца (model drift). Нужен постоянный мониторинг.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"/>
          <p:cNvSpPr/>
          <p:nvPr/>
        </p:nvSpPr>
        <p:spPr>
          <a:xfrm>
            <a:off x="0" y="0"/>
            <a:ext cx="73152" cy="8686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365760" y="13716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E6EDF3"/>
                </a:solidFill>
                <a:latin typeface="Trebuchet MS"/>
                <a:ea typeface="Trebuchet MS"/>
                <a:cs typeface="Trebuchet MS"/>
                <a:sym typeface="Trebuchet MS"/>
              </a:rPr>
              <a:t>Итог: 5 этапов = 5 поверхностей атаки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11"/>
          <p:cNvGraphicFramePr/>
          <p:nvPr/>
        </p:nvGraphicFramePr>
        <p:xfrm>
          <a:off x="45720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{95925968-8DF7-46B4-B388-F459454A73D6}</a:tableStyleId>
              </a:tblPr>
              <a:tblGrid>
                <a:gridCol w="1645925"/>
                <a:gridCol w="2286000"/>
                <a:gridCol w="1097275"/>
                <a:gridCol w="32004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Этап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Ключевая атака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OWASP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4D6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Trebuchet M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Последствие</a:t>
                      </a:r>
                      <a:endParaRPr sz="12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4D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D4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D4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Данные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Poisoning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Модель работает на атакующего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6B3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6B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Обучение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Backdoor / Reward Hack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Скрытый триггер / подмена цели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3CAC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3CA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Деплой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Supply Chain / RCE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Полный контроль сервера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855F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A855F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Prompt Injection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LLM01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Кража данных / манипуляция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E67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E67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Мониторинг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Drift / LLMjacking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LLM10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949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8B949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Финансовый ущерб / деградация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E768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1"/>
          <p:cNvSpPr/>
          <p:nvPr/>
        </p:nvSpPr>
        <p:spPr>
          <a:xfrm>
            <a:off x="1143000" y="41148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2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04" name="Google Shape;3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ai_threat_team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2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