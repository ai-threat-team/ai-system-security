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c3b0e8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c3b0e8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c3b0e89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4c3b0e89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d4c3b0e89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g3d4c3b0e897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25"/>
            <a:ext cx="53748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AI-агенты: появление, атаки и уязвимости</a:t>
            </a:r>
            <a:endParaRPr b="0" i="0" sz="24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5" y="1753225"/>
            <a:ext cx="5406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Что такое AI-агенты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822960"/>
            <a:ext cx="73152" cy="1005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31520" y="86868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AI-агент — это LLM, которая не просто отвечает на вопросы, а выполняет действия: вызывает API, пишет файлы, отправляет email, управляет инфраструктурой. Агент планирует, принимает решения и действует автономно.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Эволюция: от чат-бота к автономному агенту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103120" y="30175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457200" y="2560320"/>
            <a:ext cx="182880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Arial Black"/>
                <a:ea typeface="Arial Black"/>
                <a:cs typeface="Arial Black"/>
                <a:sym typeface="Arial Black"/>
              </a:rPr>
              <a:t>2022–2023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1520" y="2926080"/>
            <a:ext cx="1280160" cy="27432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Чат-боты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3383280"/>
            <a:ext cx="1645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ChatGPT, Claude — только текст.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Отвечают на вопросы.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Нет доступа к внешнему миру.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4"/>
          <p:cNvCxnSpPr/>
          <p:nvPr/>
        </p:nvCxnSpPr>
        <p:spPr>
          <a:xfrm>
            <a:off x="4206240" y="30175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>
            <a:off x="2560320" y="2560320"/>
            <a:ext cx="182880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56032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Arial Black"/>
                <a:ea typeface="Arial Black"/>
                <a:cs typeface="Arial Black"/>
                <a:sym typeface="Arial Black"/>
              </a:rPr>
              <a:t>2023–2024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834640" y="2926080"/>
            <a:ext cx="128016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56032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 Calling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51760" y="3383280"/>
            <a:ext cx="1645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Модели вызывают функции.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OpenAI plugins, tool use.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Первые интеграции с API.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6309360" y="30175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4"/>
          <p:cNvSpPr/>
          <p:nvPr/>
        </p:nvSpPr>
        <p:spPr>
          <a:xfrm>
            <a:off x="4663440" y="2560320"/>
            <a:ext cx="182880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66344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2024–2025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937760" y="2926080"/>
            <a:ext cx="1280160" cy="2743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6634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AI-агенты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3383280"/>
            <a:ext cx="1645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LangChain, AutoGPT, CrewAI.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Память между сессиями.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Множество инструментов.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766560" y="2560320"/>
            <a:ext cx="182880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76656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2025–2026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040880" y="2926080"/>
            <a:ext cx="128016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MCP-экосистема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858000" y="3383280"/>
            <a:ext cx="1645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Стандартный протокол (MCP).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12 000+ серверов.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Агенты в продакшене.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Архитектура AI-агента: компоненты и поверхность атаки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0" y="1645920"/>
            <a:ext cx="2743200" cy="1645920"/>
          </a:xfrm>
          <a:prstGeom prst="rect">
            <a:avLst/>
          </a:prstGeom>
          <a:solidFill>
            <a:srgbClr val="1C2333"/>
          </a:solidFill>
          <a:ln cap="flat" cmpd="sng" w="254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7373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58A6FF"/>
                </a:solidFill>
                <a:latin typeface="Arial Black"/>
                <a:ea typeface="Arial Black"/>
                <a:cs typeface="Arial Black"/>
                <a:sym typeface="Arial Black"/>
              </a:rPr>
              <a:t>AI-АГЕНТ (LLM)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0" y="26060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Контекстное окно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Планирование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74320" y="1828800"/>
            <a:ext cx="201168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74320" y="18745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Пользователь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74320" y="21945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Промпты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Документы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Файлы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2286000" y="246888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6858000" y="1097280"/>
            <a:ext cx="201168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858000" y="11430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MCP-серверы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58000" y="14630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Slack, Gmail,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Базы данных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Внешние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5"/>
          <p:cNvCxnSpPr/>
          <p:nvPr/>
        </p:nvCxnSpPr>
        <p:spPr>
          <a:xfrm>
            <a:off x="5943600" y="201168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5"/>
          <p:cNvSpPr/>
          <p:nvPr/>
        </p:nvSpPr>
        <p:spPr>
          <a:xfrm>
            <a:off x="6858000" y="2560320"/>
            <a:ext cx="201168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858000" y="2606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Память агента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858000" y="29260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Долгосрочная память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KV-cache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RAG-база знаний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5943600" y="310896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Каждый компонент — мишень для атаки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4320" y="4206240"/>
            <a:ext cx="1371600" cy="82296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685800" y="42336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Промпт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5760" y="4526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Jailbreak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28800" y="4206240"/>
            <a:ext cx="1371600" cy="82296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024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2240280" y="42336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Инструменты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920240" y="4526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Tool Poisoning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Rug Pull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383280" y="4206240"/>
            <a:ext cx="1371600" cy="82296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472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3794760" y="42336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Память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474720" y="4526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Memory Manipulation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Context Poisoning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937760" y="4206240"/>
            <a:ext cx="1371600" cy="82296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5349240" y="42336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029200" y="4526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Вредоносные серверы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OAuth-перехват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492240" y="4206240"/>
            <a:ext cx="1371600" cy="822960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368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6903720" y="42336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Данные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583680" y="452628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RAG Poisoning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Exfiltration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MCP: Model Context Protocol — новый периметр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57200" y="822960"/>
            <a:ext cx="73152" cy="2011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3152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Что такое MCP?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123444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Стандартный протокол (Anthropic, 2024) для подключения AI к внешним инструментам. Архитектура: Host → Client → Server.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Host: Claude Desktop, Cursor, 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Client: JSON-RPC 2.0 коммуникация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Server: предоставляет Tools, Resources, Prompts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754880" y="822960"/>
            <a:ext cx="73152" cy="2011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02920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Масштаб экосистемы (2026)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029200" y="128016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12 000+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217920" y="12801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публичных MCP-серверов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029200" y="1664208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492+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217920" y="16642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серверов без аутентификации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029200" y="20482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315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17920" y="20482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MCP CVE в 2025 году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029200" y="243230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Arial Black"/>
              <a:buNone/>
            </a:pPr>
            <a:r>
              <a:rPr b="0" i="0" lang="en-US" sz="14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15:1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217920" y="2432304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фейковых к настоящим серверам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solidFill>
            <a:srgbClr val="1A0D00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1097280" y="3108960"/>
            <a:ext cx="7406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Ключевая проблема: описания инструментов MCP-сервера напрямую попадают в контекстное окно LLM. Нет верификации целостности, нет ограничений на количество вызовов, нет изоляции между серверами.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поверхностей атаки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5720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Tool Poisoning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64592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64592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Rug Pull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83464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283464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Credential Theft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02336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02336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Cross-Server Escalation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21208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21208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Preference Manipulation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40080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40080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Parasitic Toolchain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589520" y="4434840"/>
            <a:ext cx="1097280" cy="5029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589520" y="44348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Data Exfiltration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Классификация атак на AI-агентов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57200" y="77724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85800" y="8229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Атаки через промпт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834640" y="85039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Indirect Prompt Injection — вредоносные инструкции в документах, email,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834640" y="112471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Jailbreak агента — обход ограничений через контекст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834640" y="139903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System Prompt Extraction — извлечение правил и инструментов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57200" y="1828800"/>
            <a:ext cx="73152" cy="914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85800" y="187452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Атаки на инструменты (MCP)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834640" y="19019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Tool Poisoning — вредоносные описания в MCP-сервере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834640" y="217627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Rug Pull — сервер меняет поведение после одобрения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834640" y="245059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Publish Poisoned Tool — троянский MCP-сервер в реестре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57200" y="2880360"/>
            <a:ext cx="73152" cy="914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85800" y="29260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Атаки на память и контекст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834640" y="295351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Memory Manipulation — внедрение ложных «воспоминаний»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2834640" y="322783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Context Poisoning — отравление RAG-базы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834640" y="35021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KV-Cache Poisoning — персистентное заражение сессии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85800" y="397764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Атаки на действия агента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834640" y="400507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Excessive Agency — агент действует сверх полномочий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834640" y="427939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Exfiltration via Tools — утечка данных через интеграции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834640" y="455371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Escape to Host — побег из sandbox на хост-систему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Tool Poisoning: атака №1 на MCP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31520" y="965918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Как это работает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31520" y="118872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MCP-сервер регистрирует инструменты с описаниями (tool descriptions)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Описания напрямую инжектятся в контекстное окно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Атакующий прячет вредоносные инструкции в описании инструмента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 воспринимает скрытые команды как легитимные → читает SSH-ключи, крадёт токены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2468880"/>
            <a:ext cx="3931920" cy="237744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КЕЙС: Cursor + MCP (Invariant Labs)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40080" y="288036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Вредоносный MCP-сервер для Cursor IDE встроил скрытые инструкции в описания tool.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AI-ассистент Cursor прочитал SSH-ключи разработчика и передал их наружу — без ведома пользователя.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Разработчики = особо ценные цели: у них доступ к продакшену, ключам, репозиториям.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754880" y="2468880"/>
            <a:ext cx="3931920" cy="237744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ВАРИАНТ: Rug Pull Attack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937760" y="288036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Сервер проходит проверку с честными описаниями инструментов.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После одобрения пользователем — сервер меняет описания на вредоносные.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Особенно опасно: протокол MCP не верифицирует целостность описаний между сессиями. Нет механизма «pinning».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Реальные атаки на AI-агентов: 2025–2026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57200" y="777240"/>
            <a:ext cx="73152" cy="914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31520" y="822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Shadow Escape через MCP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31520" y="10972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Октябрь 2025, Operant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931920" y="8229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Zero-click эксплоит: PDF со скрытыми инструкциями → агент извлекает данные из подключённых баз и отправляет наружу. Работает на ChatGPT, Claude, Gemini. Полная цепочка компрометации — 4 минуты.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57200" y="1828800"/>
            <a:ext cx="731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AI-агенты в крипто: $45M потерь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31520" y="21488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Январь 2026, Step Finance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931920" y="18745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Атака на память и MCP-протоколы трейдинг-агентов. Агенты с избыточными правами выполнили переводы 261K SOL (~$30M)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57200" y="2880360"/>
            <a:ext cx="73152" cy="91440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Claude Code RCE (CVE-2025-59536)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731520" y="32004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Февраль 2026, Check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931920" y="2926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Вредоносный .claude/settings.json в репозитории → RCE до появления trust-диалога. Перехват API-ключей через подмену ANTHROPIC_BASE_URL. Патч: v2.0.65+.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31520" y="3977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1184 вредоносных skill в ClawHub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31520" y="4251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Февраль 2026, Antiy CERT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931920" y="39776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OpenClaw: 135K+ GitHub stars, 21K открытых инстансов. 1184 вредоносных навыка в маркетплейсе агентов. Агенты с доступом к Slack и Google Workspace без контроля.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Атаки на память AI-агента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57200" y="822960"/>
            <a:ext cx="3931920" cy="30175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57200" y="822960"/>
            <a:ext cx="73152" cy="30175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31520" y="868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Почему память — критическая мишень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31520" y="123444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Современные агенты хранят «память» между сессиями: LangChain memory, ChatGPT memory, Claude memory.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Атакующий внедряет ложные «воспоминания» через indirect injection: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Агент «помнит», что CEO одобрил перевод (хотя этого не было)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Агент «знает», что определённый пользователь — администратор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Агент «уверен», что надо отправлять отчёты на email атакующего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Отравленная память влияет на ВСЕ будущие решения агента.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754880" y="822960"/>
            <a:ext cx="3931920" cy="914400"/>
          </a:xfrm>
          <a:prstGeom prst="rect">
            <a:avLst/>
          </a:prstGeom>
          <a:solidFill>
            <a:srgbClr val="0D0A1A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4937760" y="8686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Memory Manipulation (ATLAS)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937760" y="11430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Внедрение ложных фактов в долгосрочную память. Персистентная атака — работает даже после перезапуска.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754880" y="1874520"/>
            <a:ext cx="3931920" cy="914400"/>
          </a:xfrm>
          <a:prstGeom prst="rect">
            <a:avLst/>
          </a:prstGeom>
          <a:solidFill>
            <a:srgbClr val="0D0A1A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Context Poisoning (RAG)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937760" y="219456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Отравленные документы в RAG-базе. Агент «доверяет» контексту и выполняет вредоносную инструкцию из документа.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754880" y="2926080"/>
            <a:ext cx="3931920" cy="914400"/>
          </a:xfrm>
          <a:prstGeom prst="rect">
            <a:avLst/>
          </a:prstGeom>
          <a:solidFill>
            <a:srgbClr val="0D0A1A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KV-Cache Poisoning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937760" y="324612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Вредоносный контекст в начале сессии → кэш влияет на ВСЕ последующие ответы. Аналог session poisoning в вебе.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A0D1A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Крипто-агенты (январь 2026): атакующие пошли не в код — а в «мозг» агента. Результат: $45M потерь. Один взлом памяти → агент сам делает всё остальное.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Excessive Agency: когда агент может слишком много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OWASP LLM06 — расширен для эры AI-агентов (2025–2026)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1188720"/>
            <a:ext cx="260604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57200" y="1188720"/>
            <a:ext cx="26060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13258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Excessive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Functionality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94360" y="192024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имеет доступ к инструментам, которые ему не нужны для задачи.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Пример: чат-бот поддержки с доступом к удалению записей в БД.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3337560" y="1188720"/>
            <a:ext cx="260604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3337560" y="1188720"/>
            <a:ext cx="2606040" cy="7315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3337560" y="13258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Excessive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Permissions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474720" y="192024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работает с правами выше необходимых.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Пример: агент с правами admin вместо read-only. Один prompt injection → полный контроль.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217920" y="1188720"/>
            <a:ext cx="2606040" cy="228600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217920" y="1188720"/>
            <a:ext cx="2606040" cy="731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6217920" y="132588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 Black"/>
                <a:ea typeface="Arial Black"/>
                <a:cs typeface="Arial Black"/>
                <a:sym typeface="Arial Black"/>
              </a:rPr>
              <a:t>Excessive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D43B"/>
                </a:solidFill>
                <a:latin typeface="Arial Black"/>
                <a:ea typeface="Arial Black"/>
                <a:cs typeface="Arial Black"/>
                <a:sym typeface="Arial Black"/>
              </a:rPr>
              <a:t>Autonomy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355080" y="192024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выполняет действия без подтверждения человека.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Пример: агент автоматически отправляет переводы без approve.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1A1A0D"/>
          </a:solidFill>
          <a:ln cap="flat" cmpd="sng" w="12700">
            <a:solidFill>
              <a:srgbClr val="FFD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731520" y="370332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AI-агент с правами админа — это как дать стажёру root-доступ и попросить «действуй по обстановке»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82% руководителей уверены, что их политики защищают от действий агентов. Реальность: только 2% назначенных прав используются (Microsoft 2026).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2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Kill Chain атаки на AI-агента (MITRE ATLAS)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14 агентных техник добавлено в ATLAS v5.4.0 (окт 2025, совместно с Zenity Labs)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2"/>
          <p:cNvCxnSpPr/>
          <p:nvPr/>
        </p:nvCxnSpPr>
        <p:spPr>
          <a:xfrm>
            <a:off x="777240" y="1600200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2"/>
          <p:cNvSpPr/>
          <p:nvPr/>
        </p:nvSpPr>
        <p:spPr>
          <a:xfrm>
            <a:off x="1188720" y="1051560"/>
            <a:ext cx="7498080" cy="64008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1188720" y="1051560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417320" y="1078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Разведка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417320" y="1353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Определение MCP-серверов, доступных инструментов, прав агента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29200" y="10972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ML Model Access, API Probing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48640" y="1911096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548640" y="1911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2"/>
          <p:cNvCxnSpPr/>
          <p:nvPr/>
        </p:nvCxnSpPr>
        <p:spPr>
          <a:xfrm>
            <a:off x="777240" y="2368296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2"/>
          <p:cNvSpPr/>
          <p:nvPr/>
        </p:nvSpPr>
        <p:spPr>
          <a:xfrm>
            <a:off x="1188720" y="1819656"/>
            <a:ext cx="7498080" cy="64008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1188720" y="1819656"/>
            <a:ext cx="54864" cy="6400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1417320" y="18470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Подготовка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1417320" y="21214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Создание отравленного документа / вредоносного MCP-сервера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029200" y="1865376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Publish Poisoned AI Agent Tool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2"/>
          <p:cNvCxnSpPr/>
          <p:nvPr/>
        </p:nvCxnSpPr>
        <p:spPr>
          <a:xfrm>
            <a:off x="777240" y="313639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2"/>
          <p:cNvSpPr/>
          <p:nvPr/>
        </p:nvSpPr>
        <p:spPr>
          <a:xfrm>
            <a:off x="1188720" y="2587752"/>
            <a:ext cx="7498080" cy="64008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188720" y="2587752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417320" y="26151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Доставка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417320" y="28895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Документ попадает в RAG-базу / сервер подключается к агенту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029200" y="263347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 Agent Context Poisoning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2"/>
          <p:cNvCxnSpPr/>
          <p:nvPr/>
        </p:nvCxnSpPr>
        <p:spPr>
          <a:xfrm>
            <a:off x="777240" y="3904488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2"/>
          <p:cNvSpPr/>
          <p:nvPr/>
        </p:nvSpPr>
        <p:spPr>
          <a:xfrm>
            <a:off x="1188720" y="3355848"/>
            <a:ext cx="7498080" cy="64008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1188720" y="3355848"/>
            <a:ext cx="54864" cy="6400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1417320" y="33832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Эксплуатация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417320" y="3657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Indirect prompt injection → агент выполняет команды атакующего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029200" y="340156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Memory Manipulation, RAG Credential Harvesting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0D1117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188720" y="4123944"/>
            <a:ext cx="7498080" cy="64008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1188720" y="4123944"/>
            <a:ext cx="54864" cy="64008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1417320" y="41513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1417320" y="44256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Эксфильтрация данных через легитимные инструменты агента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029200" y="4169664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Exfiltration via AI Agent Tool Invocation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3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Indirect Prompt Injection на агентах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57200" y="777240"/>
            <a:ext cx="3931920" cy="283464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40080" y="822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КЕЙС: Perplexity Comet Browser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40080" y="10972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Август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40080" y="137160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Атакующий спрятал команды в комментарии на Reddit.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Пользователь нажимает «Суммаризировать страницу» в AI-браузере Comet.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 выполняет скрытые инструкции: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Логинится в email пользователя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Обходит CAPTCHA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Передаёт учётные данные атакующему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Всё это — за 150 секунд, без ведома пользователя.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Никакого вредоносного кода. Только текст.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754880" y="777240"/>
            <a:ext cx="3931920" cy="2834640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937760" y="822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КЕЙС: GitHub MCP Exfiltration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937760" y="10972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Май 2025, Invariant Labs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937760" y="1371600"/>
            <a:ext cx="3566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Вредоносные команды спрятаны в публичном GitHub Issue.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AI-агент читает Issue для «помощи» разработчику.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выполняет команды: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Читает приватные репозитории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Извлекает исходный код и ключи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→ Передаёт данные через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Обходит систему прав GitHub: агент использует credentials пользователя.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MCP не разделяет «описание задачи» и «команды атакующего».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Почему это работает на архитектурном уровне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Attention-механизм трансформера не различает источники токенов. Для LLM инструкция из system prompt и скрытая команда в документе — это одинаковые токены. Агент «видит» инструкцию атакующего точно так же, как видит легитимную команду пользователя. Это не баг конкретной реализации — это фундаментальное ограничение архитектуры.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4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AI-агенты в цифрах: масштаб угрозы (2026)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57200" y="82296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57200" y="9601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48%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94360" y="1554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ИБ-специалистов считают агентов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самым опасным вектором атак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57200" y="22402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Dark Reading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2560320" y="82296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2560320" y="9601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58A6FF"/>
                </a:solidFill>
                <a:latin typeface="Arial Black"/>
                <a:ea typeface="Arial Black"/>
                <a:cs typeface="Arial Black"/>
                <a:sym typeface="Arial Black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2697480" y="1554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корпоративных приложений будут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включать AI-агентов к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2560320" y="22402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4663440" y="82296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4663440" y="9601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$4.63M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800600" y="1554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средняя стоимость утечки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через shadow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663440" y="22402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IBM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6766560" y="82296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6766560" y="9601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D43B"/>
                </a:solidFill>
                <a:latin typeface="Arial Black"/>
                <a:ea typeface="Arial Black"/>
                <a:cs typeface="Arial Black"/>
                <a:sym typeface="Arial Black"/>
              </a:rPr>
              <a:t>315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6903720" y="1554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MCP-уязвимостей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за 2025 год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6766560" y="22402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Wallarm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283464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457200" y="29718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4757"/>
                </a:solidFill>
                <a:latin typeface="Arial Black"/>
                <a:ea typeface="Arial Black"/>
                <a:cs typeface="Arial Black"/>
                <a:sym typeface="Arial Black"/>
              </a:rPr>
              <a:t>270%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9436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рост MCP-уязвимостей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Q2 → Q3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57200" y="42519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Wallarm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2560320" y="283464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2560320" y="29718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14.4%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69748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конфигов агентов дают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произвольное выполнение кода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2560320" y="42519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UpGuard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663440" y="283464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4663440" y="29718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BC8CFF"/>
                </a:solidFill>
                <a:latin typeface="Arial Black"/>
                <a:ea typeface="Arial Black"/>
                <a:cs typeface="Arial Black"/>
                <a:sym typeface="Arial Black"/>
              </a:rPr>
              <a:t>32%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80060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инцидентов с данными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связаны с GenAI-инструментами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663440" y="42519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Microsoft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766560" y="2834640"/>
            <a:ext cx="1920240" cy="17373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6766560" y="29718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D43B"/>
                </a:solidFill>
                <a:latin typeface="Arial Black"/>
                <a:ea typeface="Arial Black"/>
                <a:cs typeface="Arial Black"/>
                <a:sym typeface="Arial Black"/>
              </a:rPr>
              <a:t>61%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90372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организаций используют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несанкционированные AI-инструменты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6766560" y="42519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JumpCloud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5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Как защищать AI-агентов: принципы и практика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457200" y="7772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457200" y="777240"/>
            <a:ext cx="73152" cy="1188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64008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Least Privilege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640080" y="1143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Каждый агент — минимальные необходимые права. Отдельные credentials для каждого инструмента. Запрет на admin-доступ.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754880" y="7772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4754880" y="777240"/>
            <a:ext cx="73152" cy="1188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93776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937760" y="11430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Критические действия (переводы, удаление, отправка) — только после подтверждения человека. Агент предлагает, человек решает.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457200" y="21488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457200" y="2148840"/>
            <a:ext cx="73152" cy="11887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Input/Output Sanitization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640080" y="25146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Фильтрация промптов на входе. Валидация действий агента на выходе. Guardrails на каждом шаге цепочки вызовов.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754880" y="21488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4754880" y="2148840"/>
            <a:ext cx="73152" cy="1188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MCP Gateway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937760" y="25146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Централизованный шлюз для всех MCP-подключений. Аутентификация, авторизация, rate limiting, аудит всех tool invocations.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43B"/>
                </a:solidFill>
                <a:latin typeface="Calibri"/>
                <a:ea typeface="Calibri"/>
                <a:cs typeface="Calibri"/>
                <a:sym typeface="Calibri"/>
              </a:rPr>
              <a:t>Мониторинг и Discovery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640080" y="38862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Инвентаризация всех агентов в организации. Behavioral monitoring: что агент делает vs что должен. Алерты на аномалии.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754880" y="3520440"/>
            <a:ext cx="4023360" cy="118872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4754880" y="3520440"/>
            <a:ext cx="73152" cy="11887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4937760" y="3566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Sandbox и изоляция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937760" y="38862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работает в изолированной среде. Ограничение на внешние вызовы. Контроль Escape-to-Host сценариев.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6"/>
          <p:cNvSpPr/>
          <p:nvPr/>
        </p:nvSpPr>
        <p:spPr>
          <a:xfrm>
            <a:off x="914400" y="1828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Фреймворки безопасности для AI-агентов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57200" y="777240"/>
            <a:ext cx="3931920" cy="21945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457200" y="777240"/>
            <a:ext cx="73152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"/>
          <p:cNvSpPr/>
          <p:nvPr/>
        </p:nvSpPr>
        <p:spPr>
          <a:xfrm>
            <a:off x="731520" y="822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OWASP для агентов (2025–2026)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731520" y="11887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OWASP выпустил три дополнительных стандарта: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Agentic AI Security — угрозы автономных агентов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MCP Security Checklist — безопасность MCP-серверов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AI Agent Security Guide — практический гайд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LLM06 (Excessive Agency) расширен для агентной эры: excessive functionality + permissions + autonomy.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754880" y="777240"/>
            <a:ext cx="3931920" cy="2194560"/>
          </a:xfrm>
          <a:prstGeom prst="rect">
            <a:avLst/>
          </a:prstGeom>
          <a:solidFill>
            <a:srgbClr val="1C2333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754880" y="777240"/>
            <a:ext cx="73152" cy="21945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5029200" y="822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MITRE ATLAS v5.4.0 (2025–2026)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5029200" y="11887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14 агентных техник (с Zenity Labs):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AI Agent Context Poisoning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Memory Manipulation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RAG Credential Harvesting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Exfiltration via Tool Invocation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Publish Poisoned AI Agent Tool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• Escape to Host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Этих техник нет ни в ATT&amp;CK, ни где-либо ещё.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Индустриальные решения для защиты агентов (2026)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457200" y="3611880"/>
            <a:ext cx="1737360" cy="914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548640" y="36576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Cisco AI Defense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548640" y="39319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Runtime-защита MCP-слоя, контроль tool abuse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2377440" y="3611880"/>
            <a:ext cx="1737360" cy="914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2468880" y="36576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Google Model Armor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2468880" y="39319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Интеграция с MCP, защита от injection и poisoning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4297680" y="3611880"/>
            <a:ext cx="1737360" cy="914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4389120" y="36576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Microsoft Purview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4389120" y="39319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Governance, аудит, контроль AI-рисков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6217920" y="3611880"/>
            <a:ext cx="1737360" cy="9144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6309360" y="36576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Wiz AI-APP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6309360" y="39319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Защита AI-приложений в облаке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1" name="Google Shape;4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7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17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