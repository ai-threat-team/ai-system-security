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AE093C-1D8E-4867-AE8B-5E037FF11D3B}">
  <a:tblStyle styleId="{DEAE093C-1D8E-4867-AE8B-5E037FF11D3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4a4587c4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4a4587c4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d4a4587c4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4a4587c4c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d4a4587c4c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g3d4a4587c4c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 Threat Team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1025" y="103225"/>
            <a:ext cx="3027651" cy="3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31525" y="145488"/>
            <a:ext cx="55107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Основы безопасности AI-систем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5" y="1467600"/>
            <a:ext cx="41829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alibri"/>
              <a:buNone/>
            </a:pPr>
            <a:r>
              <a:rPr lang="en-US" sz="24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Анатомия LLM: от токена до генерации</a:t>
            </a:r>
            <a:endParaRPr sz="2400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03520" y="1753235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194560"/>
            <a:ext cx="3657600" cy="18300"/>
          </a:xfrm>
          <a:prstGeom prst="rect">
            <a:avLst/>
          </a:prstGeom>
          <a:solidFill>
            <a:srgbClr val="00D4A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175" y="2514590"/>
            <a:ext cx="8229600" cy="1828800"/>
          </a:xfrm>
          <a:prstGeom prst="roundRect">
            <a:avLst>
              <a:gd fmla="val 5000" name="adj"/>
            </a:avLst>
          </a:prstGeom>
          <a:solidFill>
            <a:srgbClr val="1A2332"/>
          </a:solidFill>
          <a:ln cap="flat" cmpd="sng" w="9525">
            <a:solidFill>
              <a:srgbClr val="2A3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98670" y="2499643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СОЗДАТЕЛИ КУРСА: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Алексей Самойленко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5" y="3063250"/>
            <a:ext cx="3990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 Больше 6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@samoylenko23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463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Владимир Беликов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14325" y="3060625"/>
            <a:ext cx="38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Team, к.т.н.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Больше 10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@james_white_116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 нейросетей к LLM: эволюция архитектуры и атак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4"/>
          <p:cNvCxnSpPr/>
          <p:nvPr/>
        </p:nvCxnSpPr>
        <p:spPr>
          <a:xfrm>
            <a:off x="731520" y="2194560"/>
            <a:ext cx="7680960" cy="0"/>
          </a:xfrm>
          <a:prstGeom prst="straightConnector1">
            <a:avLst/>
          </a:prstGeom>
          <a:noFill/>
          <a:ln cap="flat" cmpd="sng" w="25400">
            <a:solidFill>
              <a:srgbClr val="3A4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>
            <a:off x="548640" y="1005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До 2017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13258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RNN / LSTM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05840" y="201168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48640" y="2560320"/>
            <a:ext cx="1188720" cy="50292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48640" y="2560320"/>
            <a:ext cx="457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21792" y="25603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Adversarial pixels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920240" y="1005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920240" y="13258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377440" y="201168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920240" y="2560320"/>
            <a:ext cx="1188720" cy="50292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920240" y="2560320"/>
            <a:ext cx="45720" cy="502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993392" y="25603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Новая эпоха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91840" y="1005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2018-19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291840" y="13258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BERT / GPT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749040" y="2011680"/>
            <a:ext cx="274320" cy="274320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291840" y="2560320"/>
            <a:ext cx="1188720" cy="50292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291840" y="2560320"/>
            <a:ext cx="45720" cy="5029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364992" y="25603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Data poisoning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663440" y="1005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2020-22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663440" y="13258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Scaling Laws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120640" y="2011680"/>
            <a:ext cx="274320" cy="274320"/>
          </a:xfrm>
          <a:prstGeom prst="ellipse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663440" y="2560320"/>
            <a:ext cx="1188720" cy="50292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663440" y="2560320"/>
            <a:ext cx="45720" cy="5029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736592" y="25603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Model extraction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035040" y="1005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2022-23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035040" y="13258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Decoder Only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+ RLHF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492240" y="2011680"/>
            <a:ext cx="274320" cy="2743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035040" y="2560320"/>
            <a:ext cx="1188720" cy="50292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035040" y="2560320"/>
            <a:ext cx="457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6108192" y="25603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Jailbreak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406640" y="1005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2024-26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406640" y="13258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+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MoE + Агенты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863840" y="2011680"/>
            <a:ext cx="274320" cy="27432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406640" y="2560320"/>
            <a:ext cx="1188720" cy="50292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406640" y="2560320"/>
            <a:ext cx="45720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7479792" y="25603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MCP exploit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57200" y="3337560"/>
            <a:ext cx="8229600" cy="12344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57200" y="3337560"/>
            <a:ext cx="54864" cy="1234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85800" y="33832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Ключевые моменты для безопасности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85800" y="370332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2013 — первые adversarial attacks: невидимые изменения пикселей путали панду с гиббоном (Szegedy et al.)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2017 — Transformer: механизм attention не различает источники токенов — основа prompt injection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2022 — Grokking: модель внезапно обретает способности — нельзя предсказать нежелательные emergent abilities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Токенизация: как LLM «видит» текст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1051560"/>
            <a:ext cx="2377440" cy="86868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57200" y="107899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Текст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144475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«Нейросеть»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80" y="1280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3337560" y="1051560"/>
            <a:ext cx="2377440" cy="86868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337560" y="107899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Токены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337560" y="144475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[«Ней», «рос», «еть»]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280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6217920" y="1051560"/>
            <a:ext cx="2377440" cy="86868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217920" y="107899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IDs (числа)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217920" y="144475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[12847, 29034, 9283]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BPE / tiktoken  |  ~4 символа / токен (EN)  |  Вход в модель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2514600"/>
            <a:ext cx="3931920" cy="196596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57200" y="2514600"/>
            <a:ext cx="54864" cy="1965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606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1051560" y="26060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Неравенство языков в токенах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85800" y="29718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"Hello, how are you?" → 6 токенов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"Привет, как дела?" → 7–12 токенов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Арабский, тайский → ещё больше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D7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→ Safety alignment на «редких» языках слабее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754880" y="2514600"/>
            <a:ext cx="3931920" cy="196596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754880" y="2514600"/>
            <a:ext cx="54864" cy="196596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3480" y="2606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5349240" y="26060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Token Smuggling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983480" y="29718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"Ig nore pre vious" — для человека абракадабра.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Для модели на уровне токенов — те же самые токены.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Base64, ROT13, Unicode zero-width — тот же принцип.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D7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Фильтрация на уровне текста не видит то, что видит модель.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Glitch-токены: «SolidGoldMagikarp» вызывал непредсказуемые ответы GPT-3.5. Даже словарь токенизатора — потенциальная поверхность атаки.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Embeddings: текст как точка в пространстве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1005840"/>
            <a:ext cx="5029200" cy="182880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097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1051560" y="10972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Каждый токен → вектор в 4096–12288 измерениях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40080" y="155448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«Кошка» и «котёнок» — рядом в пространстве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«Кошка» и «математика» — далеко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Семантическая близость = близость векторов.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На этом построена технология RAG.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760720" y="1005840"/>
            <a:ext cx="2926080" cy="1828800"/>
          </a:xfrm>
          <a:prstGeom prst="rect">
            <a:avLst/>
          </a:prstGeom>
          <a:solidFill>
            <a:srgbClr val="1A102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760720" y="1005840"/>
            <a:ext cx="54864" cy="18288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10972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6355080" y="10972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Embedding Inversion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989320" y="14173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OWASP LLM08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989320" y="169164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Из «безопасных» числовых векторов можно восстановить до 80% исходного текста.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D7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«Мы храним только эмбеддинги» — ложное чувство безопасности.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3108960"/>
            <a:ext cx="8229600" cy="1417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57200" y="3108960"/>
            <a:ext cx="54864" cy="14173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85800" y="32004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Стереотипы закодированы в эмбеддингах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85800" y="352044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King - Man + Woman = Queen   (арифметика смыслов)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Doctor - Man + Woman = Nurse   (стереотип!)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Атакующий может эксплуатировать эти bias'ы для направленной манипуляции ответами через подбор контекста.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Attention: сердце трансформера и корень уязвимости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1005840"/>
            <a:ext cx="1783080" cy="14173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005840" y="109728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005840" y="1097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4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182880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20574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«Что я ищу?»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запрос токена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423160" y="1005840"/>
            <a:ext cx="1783080" cy="14173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2971800" y="1097280"/>
            <a:ext cx="640080" cy="64008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971800" y="1097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4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2423160" y="182880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423160" y="20574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«Что здесь есть?»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ключ токена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389120" y="1005840"/>
            <a:ext cx="1783080" cy="14173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937760" y="109728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937760" y="1097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4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389120" y="182880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389120" y="20574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«Что выдать?»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результат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355080" y="1005840"/>
            <a:ext cx="2331720" cy="14173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355080" y="109728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Multi-Head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446520" y="1463040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Несколько «голов»: грамматика, семантика, позиция.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Как команда экспертов.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solidFill>
            <a:srgbClr val="2A1020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57200" y="2651760"/>
            <a:ext cx="54864" cy="10058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85800" y="26974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КРИТИЧЕСКИЙ МОМЕНТ ДЛЯ БЕЗОПАСНОСТИ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85800" y="3017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Attention не различает, откуда пришёл токен. System prompt, user prompt, RAG-документ — всё обрабатывается как единый поток. Нет метки «инструкция» или «данные». Это ФУНДАМЕНТАЛЬНАЯ причина prompt injection.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85800" y="3886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Induction Heads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85800" y="416052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Пары attention heads реализуют in-context learning. Через них модель «подчиняется инструкциям» — и через них же работает prompt injection. Атакующий эксплуатирует механизм обучения модели в реальном времени.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FFN, MoE и KV-cache: знания, маршрутизация и сессии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7200" y="960120"/>
            <a:ext cx="2651760" cy="265176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57200" y="960120"/>
            <a:ext cx="54864" cy="265176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051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960120" y="10515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FFN — «память» модели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94360" y="146304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Два полносвязных слоя как таблица «ключ-значение». Здесь хранятся факты.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ROME: можно точечно редактировать факты, меняя несколько нейронов.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2651760"/>
            <a:ext cx="2468880" cy="822960"/>
          </a:xfrm>
          <a:prstGeom prst="rect">
            <a:avLst/>
          </a:prstGeom>
          <a:solidFill>
            <a:srgbClr val="1A10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94360" y="269748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Data poisoning изменяет эти пары.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291840" y="960120"/>
            <a:ext cx="2651760" cy="265176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3291840" y="960120"/>
            <a:ext cx="54864" cy="2651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051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3794760" y="10515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MoE — «команда экспертов»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429000" y="146304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Mixtral 8x7B: 47B параметров, но активны ~13B.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Router решает, какие эксперты отвечают.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383280" y="2651760"/>
            <a:ext cx="2468880" cy="822960"/>
          </a:xfrm>
          <a:prstGeom prst="rect">
            <a:avLst/>
          </a:prstGeom>
          <a:solidFill>
            <a:srgbClr val="1A10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429000" y="269748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Разные эксперты могут иметь разный alignment. Можно подбирать промпты для «слабого» эксперта.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126480" y="960120"/>
            <a:ext cx="2651760" cy="265176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6126480" y="960120"/>
            <a:ext cx="54864" cy="265176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051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6629400" y="10515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KV-cache — «сессия»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263640" y="146304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Кэш Key/Value для ускорения.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Вредоносный контекст в начале сессии → влияет на ВСЕ ответы.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217920" y="2651760"/>
            <a:ext cx="2468880" cy="822960"/>
          </a:xfrm>
          <a:prstGeom prst="rect">
            <a:avLst/>
          </a:prstGeom>
          <a:solidFill>
            <a:srgbClr val="1A10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6263640" y="269748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Аналог session poisoning в веб-безопасности. Лечение: перезапуск сессии.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Layer Norm + RoPE: </a:t>
            </a: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стабилизация обучения и позиционное кодирование. Без позиции модель не отличит «кот съел рыбу» от «рыба съела кота».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52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Logit Bias Attack: </a:t>
            </a: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подавить токены «sorry», «cannot» через API → модель физически не может отказать. Как заклеить рот.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Генерация: Temperature, Top-p и параметры безопасности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1005840"/>
            <a:ext cx="3931920" cy="11887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640080" y="1051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Структура промпта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40080" y="137160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[SYSTEM] + [USER] + [ASSISTANT]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На уровне токенов — просто текст с разделителями.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Приоритет system prompt — статистическая</a:t>
            </a:r>
            <a:r>
              <a:rPr b="0" i="0" lang="en-US" sz="10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 тенденция от RLHF, не жёсткое правило.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754880" y="1005840"/>
            <a:ext cx="3931920" cy="11887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937760" y="1051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Ключевые параметры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937760" y="137160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Temperature (0–2): </a:t>
            </a: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степень случайности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98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Top-p: </a:t>
            </a: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0.1 = жёстко, 0.95 = свободно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98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Top-k: </a:t>
            </a: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из k вероятных токенов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98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Repetition penalty: </a:t>
            </a: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снижение повторов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40080" y="24688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Как Temperature влияет на безопасность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914400" y="2880360"/>
            <a:ext cx="2286000" cy="228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200400" y="2880360"/>
            <a:ext cx="2286000" cy="2286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5486400" y="2880360"/>
            <a:ext cx="2286000" cy="2286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914400" y="3154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t =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840480" y="3154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t = 0.7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858000" y="3154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t = 2.0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914400" y="33832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Предсказуемый, безопасный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657600" y="33832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Баланс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486400" y="33832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«Податливая» к jailbreak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2A1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57200" y="3931920"/>
            <a:ext cx="54864" cy="6858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85800" y="3977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Logit Bias Attack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85800" y="4206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Через API подавить «отказные» токены (sorry, cannot, нельзя) → модель физически не может произнести отказ, даже если alignment «хочет» отказать. Как заклеить рот тому, кто хочет сказать «нет».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Alignment: как LLM делают «послушными»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Base model = «сырая» модель. Она не «хочет помогать» — она просто продолжает текст.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1280160"/>
            <a:ext cx="1965960" cy="123444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57200" y="1280160"/>
            <a:ext cx="54864" cy="1234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594360" y="13533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94360" y="1664208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Обучение на примерах «хороших» ответов. Формат Q&amp;A.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2606040" y="1280160"/>
            <a:ext cx="1965960" cy="123444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2606040" y="1280160"/>
            <a:ext cx="54864" cy="1234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2743200" y="13533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RLHF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743200" y="1664208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Reward model → оптимизация «награды». Делает модель «безопасной».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754880" y="1280160"/>
            <a:ext cx="1965960" cy="123444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754880" y="1280160"/>
            <a:ext cx="54864" cy="1234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892040" y="13533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DPO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892040" y="1664208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Прямая оптимизация предпочтений без reward model. (Llama 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903720" y="1280160"/>
            <a:ext cx="1965960" cy="123444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903720" y="1280160"/>
            <a:ext cx="54864" cy="123444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7040880" y="13533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Constitutional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040880" y="1664208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Самокритика по принципам. Red-teaming по набору правил. (Claude)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1A10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57200" y="2743200"/>
            <a:ext cx="54864" cy="77724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85800" y="2788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Почему alignment можно обойти?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85800" y="30632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Alignment = fine-tuning поверх pre-trained модели. Все «знания» из pre-training (включая вредоносные) никуда не делись — они «прикрыты», но не удалены. Jailbreak = найти способ «обойти» fine-tuning. 100 примеров fine-tuning poisoning могут снять safety alignment. Это как покрасить стену — краска скрывает, но не удаляет то, что под ней.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457200" y="3749040"/>
            <a:ext cx="54864" cy="86868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85800" y="37947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Аналогия: все ограничения модели — один тумблер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85800" y="40690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Вы ожидаете сложную распределённую систему защиты, а вместо неё — один рубильник. Щёлк — и модель «свободна». Именно так работает вычитание refusal vector. Подробнее — на следующем слайде.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Refusal Vector: alignment часто живёт в одном направлении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Arditi et al., 2024  —  одно из ключевых открытий в AI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57200" y="1188720"/>
            <a:ext cx="2651760" cy="105156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005840" y="123444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Alignment не распределён по всей сети — он фокусируется в определённых весах и слоях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291840" y="1188720"/>
            <a:ext cx="2651760" cy="105156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338328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3383280" y="1280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840480" y="123444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Можно выделить «refusal vector» — одно направление, ответственное за отказы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126480" y="1188720"/>
            <a:ext cx="2651760" cy="105156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217920" y="1280160"/>
            <a:ext cx="365760" cy="365760"/>
          </a:xfrm>
          <a:prstGeom prst="ellipse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6217920" y="1280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675120" y="123444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Вычесть вектор из активаций →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некоторые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ограничения снимаются. Модель работает, но не отказывает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57200" y="2468880"/>
            <a:ext cx="54864" cy="100584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685800" y="25146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Как это работает технически: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85800" y="27889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Берём набор запросов, на которые модель отказывает, и набор нейтральных запросов. Сравниваем внутренние активации (residual stream). Разница = refusal direction. Вычитаем его — получаем модель без ограничений.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85800" y="315468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Alignment = тонкая плёнка. Jailbreak обходит вектор отказа, не ломая модель.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457200" y="3703320"/>
            <a:ext cx="54864" cy="914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685800" y="37490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Representation Engineering (RepE): управление моделью через «эмоции»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В активациях можно найти направления: «честность», «токсичность», «подчинение». Двигая активации — меняем поведение без переобучения.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При доступе к весам: можно настроить модель как эквалайзер — вредоносность вверх, отказы вниз.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RAG: новая поверхность атаки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57200" y="1005840"/>
            <a:ext cx="1737360" cy="7315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457200" y="1005840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57200" y="10972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Вопрос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2240280" y="1143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2651760" y="1005840"/>
            <a:ext cx="1737360" cy="7315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2651760" y="1005840"/>
            <a:ext cx="173736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2651760" y="10972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Поиск 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векторной БД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434840" y="1143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846320" y="1005840"/>
            <a:ext cx="1737360" cy="7315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4846320" y="1005840"/>
            <a:ext cx="173736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4846320" y="10972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Документы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промпт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629400" y="1143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7040880" y="1005840"/>
            <a:ext cx="1737360" cy="7315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7040880" y="1005840"/>
            <a:ext cx="173736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7040880" y="10972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Генерация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ответа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57200" y="2011680"/>
            <a:ext cx="2651760" cy="21031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457200" y="2011680"/>
            <a:ext cx="54864" cy="21031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103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2"/>
          <p:cNvSpPr/>
          <p:nvPr/>
        </p:nvSpPr>
        <p:spPr>
          <a:xfrm>
            <a:off x="960120" y="2103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Indirect Prompt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594360" y="251460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Скрытая команда в документе RAG-базы → модель выполняет. Google Gemini + Calendar (2025): инструкция в описании события → утечка данных.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3291840" y="2011680"/>
            <a:ext cx="2651760" cy="21031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3291840" y="2011680"/>
            <a:ext cx="54864" cy="2103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103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/>
          <p:nvPr/>
        </p:nvSpPr>
        <p:spPr>
          <a:xfrm>
            <a:off x="3794760" y="2103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Retrieval Poisoning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3429000" y="251460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Документы, оптимизированные под конкретные запросы. Контролируемый контекст = контролируемый ответ.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126480" y="2011680"/>
            <a:ext cx="2651760" cy="2103120"/>
          </a:xfrm>
          <a:prstGeom prst="rect">
            <a:avLst/>
          </a:prstGeom>
          <a:solidFill>
            <a:srgbClr val="1A253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6126480" y="2011680"/>
            <a:ext cx="54864" cy="21031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2103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/>
          <p:nvPr/>
        </p:nvSpPr>
        <p:spPr>
          <a:xfrm>
            <a:off x="6629400" y="2103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Chunk Boundary Attack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263640" y="251460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Вредоносная инструкция на границе чанков → в отдельном чанке без «разбавляющего» контекста → высокий relevance score.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Полная архитектура LLM: каждый слой — мишень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74320" y="1005840"/>
            <a:ext cx="1097280" cy="914400"/>
          </a:xfrm>
          <a:prstGeom prst="rect">
            <a:avLst/>
          </a:prstGeom>
          <a:solidFill>
            <a:srgbClr val="0A25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274320" y="1005840"/>
            <a:ext cx="10972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274320" y="1097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Токенизация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274320" y="19659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274320" y="2240280"/>
            <a:ext cx="1097280" cy="77724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274320" y="2240280"/>
            <a:ext cx="36576" cy="7772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329184" y="22860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Token Smuggling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Glitch-токены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508760" y="1005840"/>
            <a:ext cx="1097280" cy="914400"/>
          </a:xfrm>
          <a:prstGeom prst="rect">
            <a:avLst/>
          </a:prstGeom>
          <a:solidFill>
            <a:srgbClr val="1A1028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1508760" y="1005840"/>
            <a:ext cx="1097280" cy="457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1508760" y="1097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40F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40FB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1508760" y="19659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508760" y="2240280"/>
            <a:ext cx="1097280" cy="77724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1508760" y="2240280"/>
            <a:ext cx="36576" cy="7772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1563624" y="22860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Embedding Inversion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Bias exploitation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2743200" y="1005840"/>
            <a:ext cx="1097280" cy="914400"/>
          </a:xfrm>
          <a:prstGeom prst="rect">
            <a:avLst/>
          </a:prstGeom>
          <a:solidFill>
            <a:srgbClr val="2A1020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2743200" y="1005840"/>
            <a:ext cx="1097280" cy="457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2743200" y="1097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Attention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2743200" y="19659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2743200" y="2240280"/>
            <a:ext cx="1097280" cy="77724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2743200" y="2240280"/>
            <a:ext cx="36576" cy="7772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2798064" y="22860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Prompt Injection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(фундаментальная)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3977640" y="1005840"/>
            <a:ext cx="1097280" cy="914400"/>
          </a:xfrm>
          <a:prstGeom prst="rect">
            <a:avLst/>
          </a:prstGeom>
          <a:solidFill>
            <a:srgbClr val="0A2520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3977640" y="1005840"/>
            <a:ext cx="109728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3977640" y="1097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FFN / MoE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3977640" y="19659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3977640" y="2240280"/>
            <a:ext cx="1097280" cy="77724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3977640" y="2240280"/>
            <a:ext cx="36576" cy="7772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4032504" y="22860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Data Poisoning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ROME editing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212080" y="1005840"/>
            <a:ext cx="1097280" cy="914400"/>
          </a:xfrm>
          <a:prstGeom prst="rect">
            <a:avLst/>
          </a:prstGeom>
          <a:solidFill>
            <a:srgbClr val="2A2510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5212080" y="1005840"/>
            <a:ext cx="1097280" cy="4572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5212080" y="1097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Генерация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212080" y="19659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5212080" y="2240280"/>
            <a:ext cx="1097280" cy="77724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5212080" y="2240280"/>
            <a:ext cx="36576" cy="7772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5266944" y="22860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Logit Bias Attack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Temperature exploit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6446520" y="1005840"/>
            <a:ext cx="1097280" cy="914400"/>
          </a:xfrm>
          <a:prstGeom prst="rect">
            <a:avLst/>
          </a:prstGeom>
          <a:solidFill>
            <a:srgbClr val="0A2530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6446520" y="1005840"/>
            <a:ext cx="109728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6446520" y="1097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Alignment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6446520" y="19659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6446520" y="2240280"/>
            <a:ext cx="1097280" cy="77724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6446520" y="2240280"/>
            <a:ext cx="36576" cy="7772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6501384" y="22860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Refusal Vector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Jailbreak / RepE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7680960" y="1005840"/>
            <a:ext cx="1097280" cy="914400"/>
          </a:xfrm>
          <a:prstGeom prst="rect">
            <a:avLst/>
          </a:prstGeom>
          <a:solidFill>
            <a:srgbClr val="0A1530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7680960" y="1005840"/>
            <a:ext cx="109728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7680960" y="1097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r>
              <a:rPr b="1" lang="en-US" sz="1000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/Agent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7680960" y="19659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7680960" y="2240280"/>
            <a:ext cx="1097280" cy="77724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7680960" y="2240280"/>
            <a:ext cx="36576" cy="7772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7735824" y="22860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Indirect Injection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Retrieval Poisoning</a:t>
            </a:r>
            <a:endParaRPr b="0" i="0" sz="800" u="none" cap="none" strike="noStrike">
              <a:solidFill>
                <a:srgbClr val="B0BEC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Атаки на агенты</a:t>
            </a:r>
            <a:endParaRPr sz="800">
              <a:solidFill>
                <a:srgbClr val="B0BE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640080" y="33375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Ключевые выводы для AI Security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703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1005840" y="37033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Prompt injection — архитектурная проблема, не баг реализации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39319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3"/>
          <p:cNvSpPr/>
          <p:nvPr/>
        </p:nvSpPr>
        <p:spPr>
          <a:xfrm>
            <a:off x="1005840" y="39319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Alignment — тонкая плёнка. Refusal vector = один тумблер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41605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3"/>
          <p:cNvSpPr/>
          <p:nvPr/>
        </p:nvSpPr>
        <p:spPr>
          <a:xfrm>
            <a:off x="1005840" y="41605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RAG расширяет поверхность атаки через indirect injection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43891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3"/>
          <p:cNvSpPr/>
          <p:nvPr/>
        </p:nvSpPr>
        <p:spPr>
          <a:xfrm>
            <a:off x="1005840" y="4389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Multilingual jailbreak — 3x выше шанс обхода на редких языках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4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Связь архитектуры с OWASP Top 10 for LLM 2025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1" name="Google Shape;401;p14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{DEAE093C-1D8E-4867-AE8B-5E037FF11D3B}</a:tableStyleId>
              </a:tblPr>
              <a:tblGrid>
                <a:gridCol w="1645925"/>
                <a:gridCol w="2926075"/>
                <a:gridCol w="36576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Компонент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Уязвимость OWASP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Атака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D4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Токенизация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8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98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LLM01 Prompt Injection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 Smuggling, multilingual jailbreak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8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98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LLM08 Vector Weaknesses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 Inversion, retrieval poisoning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Attention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8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98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LLM01 Prompt Injection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Indirect injection через RAG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FFN / MoE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8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98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LLM04 Data Poisoning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ROME editing, fine-tuning poisoning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Генерация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8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98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LLM07 System Prompt Leakage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Logit bias, temperature exploit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Alignment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8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98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LLM01 + LLM09 Misinformation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Refusal vector, jailbreak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8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F98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LLM08 + LLM02 Disclosure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Chunk boundary, indirect injection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A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2"/>
                    </a:solidFill>
                  </a:tcPr>
                </a:tc>
              </a:tr>
            </a:tbl>
          </a:graphicData>
        </a:graphic>
      </p:graphicFrame>
      <p:sp>
        <p:nvSpPr>
          <p:cNvPr id="402" name="Google Shape;402;p1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Подробный разбор каждого OWASP пункта — в уроке 1.2. Практическое тестирование — в модуле 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D4AA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7B61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1" name="Google Shape;4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063" y="-38350"/>
            <a:ext cx="3168325" cy="31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/>
          <p:nvPr/>
        </p:nvSpPr>
        <p:spPr>
          <a:xfrm>
            <a:off x="954400" y="256251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Вопросы?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914400" y="380379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Telegram: ai_threat_team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@james_white_116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@samoylenko23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994400" y="45809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Threat Team: Основы безопасности AI-систем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15"/>
          <p:cNvPicPr preferRelativeResize="0"/>
          <p:nvPr/>
        </p:nvPicPr>
        <p:blipFill rotWithShape="1">
          <a:blip r:embed="rId4">
            <a:alphaModFix/>
          </a:blip>
          <a:srcRect b="0" l="0" r="0" t="37032"/>
          <a:stretch/>
        </p:blipFill>
        <p:spPr>
          <a:xfrm>
            <a:off x="6495800" y="0"/>
            <a:ext cx="2648199" cy="25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7450" y="-38350"/>
            <a:ext cx="2498250" cy="25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