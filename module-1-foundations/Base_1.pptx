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486fc429a_2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g3d486fc429a_2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d486fc429a_2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486fc429a_2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g3d486fc429a_2_8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d486fc429a_2_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2.png"/><Relationship Id="rId7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.png"/><Relationship Id="rId5" Type="http://schemas.openxmlformats.org/officeDocument/2006/relationships/image" Target="../media/image8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I Threat Team Logo" id="17" name="Google Shape;1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1025" y="103225"/>
            <a:ext cx="3027651" cy="30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731525" y="145488"/>
            <a:ext cx="5510700" cy="11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Trebuchet MS"/>
              <a:buNone/>
            </a:pPr>
            <a:r>
              <a:rPr b="1" lang="en-US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Основы безопасности AI-систем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31520" y="14676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AI повсюду: и в атаке, и в защите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31520" y="17373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731520" y="2194560"/>
            <a:ext cx="3657600" cy="18288"/>
          </a:xfrm>
          <a:prstGeom prst="rect">
            <a:avLst/>
          </a:prstGeom>
          <a:solidFill>
            <a:srgbClr val="00D4A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175" y="2514590"/>
            <a:ext cx="8229600" cy="1828800"/>
          </a:xfrm>
          <a:prstGeom prst="roundRect">
            <a:avLst>
              <a:gd fmla="val 5000" name="adj"/>
            </a:avLst>
          </a:prstGeom>
          <a:solidFill>
            <a:srgbClr val="1A2332"/>
          </a:solidFill>
          <a:ln cap="flat" cmpd="sng" w="9525">
            <a:solidFill>
              <a:srgbClr val="2A3A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3298670" y="2499643"/>
            <a:ext cx="768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СОЗДАТЕЛИ КУРСА:</a:t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731520" y="27432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Алексей Самойленко</a:t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731525" y="3063250"/>
            <a:ext cx="3990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</a:t>
            </a:r>
            <a:endParaRPr sz="1100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 Больше 6 лет опыта в сфере ML и ИБ</a:t>
            </a:r>
            <a:endParaRPr sz="1100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@samoylenko23</a:t>
            </a:r>
            <a:endParaRPr sz="1100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846320" y="27432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Владимир Беликов</a:t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4814325" y="3060625"/>
            <a:ext cx="3872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Security Researcher, Red Team, к.т.н.</a:t>
            </a:r>
            <a:endParaRPr sz="1100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Руководит направлением AI в одной из ведущих ИБ-компаний</a:t>
            </a:r>
            <a:endParaRPr sz="1100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Больше 10 лет опыта в сфере ML и ИБ</a:t>
            </a:r>
            <a:endParaRPr sz="1100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telegram: @james_white_116</a:t>
            </a:r>
            <a:endParaRPr sz="1100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rgbClr val="8899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858000" y="3200400"/>
            <a:ext cx="2926080" cy="2926080"/>
          </a:xfrm>
          <a:prstGeom prst="ellipse">
            <a:avLst/>
          </a:prstGeom>
          <a:solidFill>
            <a:srgbClr val="7B61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31520" y="548640"/>
            <a:ext cx="73152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5600"/>
              <a:buFont typeface="Trebuchet MS"/>
              <a:buNone/>
            </a:pPr>
            <a:r>
              <a:rPr b="1" i="0" lang="en-US" sz="63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$25 000 000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31520" y="17373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Столько потеряла компания Arup за один видеозвонок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31520" y="2468880"/>
            <a:ext cx="7680960" cy="9144"/>
          </a:xfrm>
          <a:prstGeom prst="rect">
            <a:avLst/>
          </a:prstGeom>
          <a:solidFill>
            <a:srgbClr val="8899AA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731520" y="269748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Все участники видеозвонка — CFO и коллеги — были </a:t>
            </a:r>
            <a:r>
              <a:rPr b="1" i="0" lang="en-US" sz="15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AI-дипфейками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400"/>
              <a:buFont typeface="Calibri"/>
              <a:buNone/>
            </a:pPr>
            <a:r>
              <a:rPr lang="en-US">
                <a:solidFill>
                  <a:srgbClr val="C9D1D9"/>
                </a:solidFill>
                <a:latin typeface="Calibri"/>
                <a:ea typeface="Calibri"/>
                <a:cs typeface="Calibri"/>
                <a:sym typeface="Calibri"/>
              </a:rPr>
              <a:t>💸 </a:t>
            </a:r>
            <a:r>
              <a:rPr b="0" i="0" lang="en-US" sz="14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15 переводов</a:t>
            </a:r>
            <a:r>
              <a:rPr lang="en-US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b="0" i="0" lang="en-US" sz="14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5 счетов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31520" y="3931920"/>
            <a:ext cx="3474720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868680" y="397764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8C42"/>
                </a:solidFill>
                <a:latin typeface="Trebuchet MS"/>
                <a:ea typeface="Trebuchet MS"/>
                <a:cs typeface="Trebuchet MS"/>
                <a:sym typeface="Trebuchet MS"/>
              </a:rPr>
              <a:t>$410M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убытки от дипфейков в финсекторе (H1 2025)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4572000" y="3931920"/>
            <a:ext cx="3840480" cy="82296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709160" y="3977640"/>
            <a:ext cx="35661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8C42"/>
                </a:solidFill>
                <a:latin typeface="Trebuchet MS"/>
                <a:ea typeface="Trebuchet MS"/>
                <a:cs typeface="Trebuchet MS"/>
                <a:sym typeface="Trebuchet MS"/>
              </a:rPr>
              <a:t>$40B к 2027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прогноз потерь от GenAI-мошенничества (Deloitte)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AI в продакшене: масштаб проникновения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731520" y="1097280"/>
            <a:ext cx="2423160" cy="16916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>
            <a:off x="868680" y="160020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71%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868680" y="21945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организаций используют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генеративный AI (McKinsey)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383280" y="1097280"/>
            <a:ext cx="2423160" cy="16916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6616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3520440" y="160020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7B61FF"/>
                </a:solidFill>
                <a:latin typeface="Trebuchet MS"/>
                <a:ea typeface="Trebuchet MS"/>
                <a:cs typeface="Trebuchet MS"/>
                <a:sym typeface="Trebuchet MS"/>
              </a:rPr>
              <a:t>378M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520440" y="21945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AI-пользователей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в мире (3x за 5 лет)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6035040" y="1097280"/>
            <a:ext cx="2423160" cy="16916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7920" y="12344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5"/>
          <p:cNvSpPr/>
          <p:nvPr/>
        </p:nvSpPr>
        <p:spPr>
          <a:xfrm>
            <a:off x="6172200" y="1600200"/>
            <a:ext cx="2148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8C42"/>
                </a:solidFill>
                <a:latin typeface="Trebuchet MS"/>
                <a:ea typeface="Trebuchet MS"/>
                <a:cs typeface="Trebuchet MS"/>
                <a:sym typeface="Trebuchet MS"/>
              </a:rPr>
              <a:t>$1.8T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172200" y="2194560"/>
            <a:ext cx="2148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прогнозируемый рынок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к 2030 году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731520" y="3063240"/>
            <a:ext cx="7680960" cy="9144"/>
          </a:xfrm>
          <a:prstGeom prst="rect">
            <a:avLst/>
          </a:prstGeom>
          <a:solidFill>
            <a:srgbClr val="FF6B6B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520" y="32918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/>
          <p:nvPr/>
        </p:nvSpPr>
        <p:spPr>
          <a:xfrm>
            <a:off x="1188720" y="3246120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2000"/>
              <a:buFont typeface="Trebuchet MS"/>
              <a:buNone/>
            </a:pPr>
            <a:r>
              <a:rPr b="1" i="0" lang="en-US" sz="20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Но безопасность не успевает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731520" y="3749040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13%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554480" y="374904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организаций уже столкнулись с утечками через AI (IBM 2025)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731520" y="4187952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97%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1554480" y="4187952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из них не имели контроля доступа к AI-системам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31520" y="4626864"/>
            <a:ext cx="777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86</a:t>
            </a:r>
            <a:r>
              <a:rPr b="1" i="0" lang="en-US" sz="16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554480" y="4626864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дефицит специалистов</a:t>
            </a:r>
            <a:r>
              <a:rPr b="0" i="0" lang="en-US" sz="13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 AI Security (WEF 2025)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731520" y="27432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AI уже в каждом секторе — и везде уязвим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731520" y="1097280"/>
            <a:ext cx="3749040" cy="1645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6"/>
          <p:cNvSpPr/>
          <p:nvPr/>
        </p:nvSpPr>
        <p:spPr>
          <a:xfrm>
            <a:off x="1417320" y="12344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Финансы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914400" y="173736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AI-трейдинг-агенты потеряли $45M через атаки на MCP-протоколы (январь 2026)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663440" y="1097280"/>
            <a:ext cx="3749040" cy="1645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0" y="128016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6"/>
          <p:cNvSpPr/>
          <p:nvPr/>
        </p:nvSpPr>
        <p:spPr>
          <a:xfrm>
            <a:off x="5349240" y="123444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Медицина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846320" y="173736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Средняя утечка в healthcare — $7.42M. Adversarial patch меняет диагноз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31520" y="2971800"/>
            <a:ext cx="3749040" cy="1645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3154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6"/>
          <p:cNvSpPr/>
          <p:nvPr/>
        </p:nvSpPr>
        <p:spPr>
          <a:xfrm>
            <a:off x="1417320" y="31089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Разработка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914400" y="361188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Rules File Backdoor: невидимые инструкции в Cursor/Copilot генерируют бэкдоры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663440" y="2971800"/>
            <a:ext cx="3749040" cy="1645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5" name="Google Shape;9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6320" y="3154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6"/>
          <p:cNvSpPr/>
          <p:nvPr/>
        </p:nvSpPr>
        <p:spPr>
          <a:xfrm>
            <a:off x="5349240" y="31089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AI-агенты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846320" y="3611880"/>
            <a:ext cx="33832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Shadow Escape через MCP: PDF вытягивает данные из баз без единого клика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731520" y="22860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5 реальных атак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731520" y="1005840"/>
            <a:ext cx="7680960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731520" y="1005840"/>
            <a:ext cx="73152" cy="6583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1005840" y="1005840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463040" y="10789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Arup — дипфейк-видеозвонок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463040" y="135331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Все участники звонка — AI-сгенерированные дипфейки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583680" y="1005840"/>
            <a:ext cx="1645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$25M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731520" y="1783080"/>
            <a:ext cx="7680960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731520" y="1783080"/>
            <a:ext cx="73152" cy="658368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1005840" y="1783080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8C42"/>
                </a:solidFill>
                <a:latin typeface="Trebuchet MS"/>
                <a:ea typeface="Trebuchet MS"/>
                <a:cs typeface="Trebuchet MS"/>
                <a:sym typeface="Trebuchet MS"/>
              </a:rPr>
              <a:t>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463040" y="185623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AI-агенты в крипто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463040" y="21305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Атака на память и MCP-протоколы AI-агентов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583680" y="1783080"/>
            <a:ext cx="1645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8C42"/>
                </a:solidFill>
                <a:latin typeface="Trebuchet MS"/>
                <a:ea typeface="Trebuchet MS"/>
                <a:cs typeface="Trebuchet MS"/>
                <a:sym typeface="Trebuchet MS"/>
              </a:rPr>
              <a:t>$45M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31520" y="2560320"/>
            <a:ext cx="7680960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731520" y="2560320"/>
            <a:ext cx="73152" cy="658368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005840" y="2560320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7B61FF"/>
                </a:solidFill>
                <a:latin typeface="Trebuchet MS"/>
                <a:ea typeface="Trebuchet MS"/>
                <a:cs typeface="Trebuchet MS"/>
                <a:sym typeface="Trebuchet MS"/>
              </a:rPr>
              <a:t>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463040" y="26334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LLMjacking — кража вычислений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463040" y="290779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Кража API-ключей: чужие LLM за счёт жертвы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583680" y="2560320"/>
            <a:ext cx="1645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61FF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7B61FF"/>
                </a:solidFill>
                <a:latin typeface="Trebuchet MS"/>
                <a:ea typeface="Trebuchet MS"/>
                <a:cs typeface="Trebuchet MS"/>
                <a:sym typeface="Trebuchet MS"/>
              </a:rPr>
              <a:t>$10K/день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731520" y="3337560"/>
            <a:ext cx="7680960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731520" y="3337560"/>
            <a:ext cx="73152" cy="65836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1005840" y="3337560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1463040" y="34107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McDonald's AI-чатбот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463040" y="368503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Пароль «123456» на AI-системе найма персонала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6583680" y="3337560"/>
            <a:ext cx="1645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00D4AA"/>
                </a:solidFill>
                <a:latin typeface="Trebuchet MS"/>
                <a:ea typeface="Trebuchet MS"/>
                <a:cs typeface="Trebuchet MS"/>
                <a:sym typeface="Trebuchet MS"/>
              </a:rPr>
              <a:t>64M записей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731520" y="4114800"/>
            <a:ext cx="7680960" cy="658368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731520" y="4114800"/>
            <a:ext cx="73152" cy="65836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1005840" y="4114800"/>
            <a:ext cx="411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463040" y="41879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Dark LLMs — Crime-as-a-Service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463040" y="446227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WormGPT, FraudGPT — подписка на вредоносный 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583680" y="4114800"/>
            <a:ext cx="1645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F6B6B"/>
                </a:solidFill>
                <a:latin typeface="Trebuchet MS"/>
                <a:ea typeface="Trebuchet MS"/>
                <a:cs typeface="Trebuchet MS"/>
                <a:sym typeface="Trebuchet MS"/>
              </a:rPr>
              <a:t>€60/мес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731520" y="274320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AI-системы — это софт с багами. Только баги другие.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31520" y="1051560"/>
            <a:ext cx="36576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731520" y="10515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Традиционная безопасность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754880" y="1051560"/>
            <a:ext cx="3657600" cy="457200"/>
          </a:xfrm>
          <a:prstGeom prst="rect">
            <a:avLst/>
          </a:prstGeom>
          <a:solidFill>
            <a:srgbClr val="3A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754880" y="10515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AI Security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31520" y="1645920"/>
            <a:ext cx="36576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868680" y="16459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SQL Injection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754880" y="1645920"/>
            <a:ext cx="36576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892040" y="164592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 Injection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0" y="17556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731520" y="2240280"/>
            <a:ext cx="36576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868680" y="224028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Вредоносный npm-пакет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754880" y="2240280"/>
            <a:ext cx="36576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892040" y="224028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Отравленная модель на HuggingFace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0" y="235000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8"/>
          <p:cNvSpPr/>
          <p:nvPr/>
        </p:nvSpPr>
        <p:spPr>
          <a:xfrm>
            <a:off x="731520" y="2834640"/>
            <a:ext cx="36576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868680" y="28346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SAST/DAST сканирование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4754880" y="2834640"/>
            <a:ext cx="36576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4892040" y="283464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Нет зрелых инструментов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0" y="294436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731520" y="3429000"/>
            <a:ext cx="36576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868680" y="342900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Чёткие правила: да/нет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4754880" y="3429000"/>
            <a:ext cx="36576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4892040" y="342900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Семантические атаки: ∞ формулировок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0" y="353872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731520" y="4023360"/>
            <a:ext cx="36576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868680" y="402336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Firewall защищает периметр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4754880" y="4023360"/>
            <a:ext cx="3657600" cy="50292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4892040" y="4023360"/>
            <a:ext cx="33832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AI-агент сам открывает двери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2" name="Google Shape;1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4840" y="4133088"/>
            <a:ext cx="274320" cy="274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457200" y="182880"/>
            <a:ext cx="822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Масштаб проблемы в цифрах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365760" y="914400"/>
            <a:ext cx="2697600" cy="17373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365760" y="1188720"/>
            <a:ext cx="269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4757"/>
                </a:solidFill>
                <a:latin typeface="Trebuchet MS"/>
                <a:ea typeface="Trebuchet MS"/>
                <a:cs typeface="Trebuchet MS"/>
                <a:sym typeface="Trebuchet MS"/>
              </a:rPr>
              <a:t>$10.5T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365760" y="1920240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глобальные потери от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киберпреступности (2025)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3246120" y="914400"/>
            <a:ext cx="2697600" cy="17373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3246120" y="1188720"/>
            <a:ext cx="269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42 сек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3246120" y="1920240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среднее время успешного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jailbreak (Pillar Security)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126480" y="914400"/>
            <a:ext cx="2697600" cy="17373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6126480" y="1188720"/>
            <a:ext cx="269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BBF24"/>
                </a:solidFill>
                <a:latin typeface="Trebuchet MS"/>
                <a:ea typeface="Trebuchet MS"/>
                <a:cs typeface="Trebuchet MS"/>
                <a:sym typeface="Trebuchet MS"/>
              </a:rPr>
              <a:t>23M+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126480" y="1920240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секретов утекло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на GitHub в 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365760" y="2880360"/>
            <a:ext cx="2697600" cy="17373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/>
          <p:nvPr/>
        </p:nvSpPr>
        <p:spPr>
          <a:xfrm>
            <a:off x="365760" y="3154680"/>
            <a:ext cx="269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55F7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A855F7"/>
                </a:solidFill>
                <a:latin typeface="Trebuchet MS"/>
                <a:ea typeface="Trebuchet MS"/>
                <a:cs typeface="Trebuchet MS"/>
                <a:sym typeface="Trebuchet MS"/>
              </a:rPr>
              <a:t>86%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365760" y="3886200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дефицит AI 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специалистов (WEF 2025)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3246120" y="2880360"/>
            <a:ext cx="2697600" cy="17373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/>
          <p:nvPr/>
        </p:nvSpPr>
        <p:spPr>
          <a:xfrm>
            <a:off x="3246120" y="3154680"/>
            <a:ext cx="269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3B82F6"/>
                </a:solidFill>
                <a:latin typeface="Trebuchet MS"/>
                <a:ea typeface="Trebuchet MS"/>
                <a:cs typeface="Trebuchet MS"/>
                <a:sym typeface="Trebuchet MS"/>
              </a:rPr>
              <a:t>20%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3246120" y="3886200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jailbreak-запросов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успешны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6126480" y="2880360"/>
            <a:ext cx="2697600" cy="1737300"/>
          </a:xfrm>
          <a:prstGeom prst="rect">
            <a:avLst/>
          </a:prstGeom>
          <a:solidFill>
            <a:srgbClr val="161B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6126480" y="3154680"/>
            <a:ext cx="2697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2DD4A8"/>
                </a:solidFill>
                <a:latin typeface="Trebuchet MS"/>
                <a:ea typeface="Trebuchet MS"/>
                <a:cs typeface="Trebuchet MS"/>
                <a:sym typeface="Trebuchet MS"/>
              </a:rPr>
              <a:t>6 дней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6126480" y="3886200"/>
            <a:ext cx="269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AI-инциденты обнаруживаются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позже обычных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365760" y="4663440"/>
            <a:ext cx="8412600" cy="365700"/>
          </a:xfrm>
          <a:prstGeom prst="rect">
            <a:avLst/>
          </a:prstGeom>
          <a:solidFill>
            <a:srgbClr val="1C23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548640" y="4663440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D4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DD4A8"/>
                </a:solidFill>
                <a:latin typeface="Calibri"/>
                <a:ea typeface="Calibri"/>
                <a:cs typeface="Calibri"/>
                <a:sym typeface="Calibri"/>
              </a:rPr>
              <a:t>71% организаций используют AI, но только 32% используют AI для защиты (McKinsey / IBM)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0" y="0"/>
            <a:ext cx="137100" cy="51435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6858000" y="3200400"/>
            <a:ext cx="2926200" cy="2926200"/>
          </a:xfrm>
          <a:prstGeom prst="ellipse">
            <a:avLst/>
          </a:prstGeom>
          <a:solidFill>
            <a:srgbClr val="7B61FF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8" name="Google Shape;20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320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0"/>
          <p:cNvSpPr/>
          <p:nvPr/>
        </p:nvSpPr>
        <p:spPr>
          <a:xfrm>
            <a:off x="1188720" y="27432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Trebuchet MS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Кейс: Mercor / LiteLLM (март 2026)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731520" y="822960"/>
            <a:ext cx="6400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8C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8C42"/>
                </a:solidFill>
                <a:latin typeface="Calibri"/>
                <a:ea typeface="Calibri"/>
                <a:cs typeface="Calibri"/>
                <a:sym typeface="Calibri"/>
              </a:rPr>
              <a:t>Крупнейшая supply chain атака в AI-индустрии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731520" y="1417320"/>
            <a:ext cx="411600" cy="4116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731520" y="141732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9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419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1371600" y="137160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Внедрение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1371600" y="164592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Вредоносный код в LiteLLM — библиотеку, установленную в 36% облачных сред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914400" y="1874520"/>
            <a:ext cx="18300" cy="320100"/>
          </a:xfrm>
          <a:prstGeom prst="rect">
            <a:avLst/>
          </a:prstGeom>
          <a:solidFill>
            <a:srgbClr val="FF8C42">
              <a:alpha val="5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731520" y="2240280"/>
            <a:ext cx="411600" cy="4116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731520" y="224028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9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419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371600" y="219456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40 минут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1371600" y="246888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Столько были доступны вредоносные версии — этого хватило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914400" y="2697480"/>
            <a:ext cx="18300" cy="320100"/>
          </a:xfrm>
          <a:prstGeom prst="rect">
            <a:avLst/>
          </a:prstGeom>
          <a:solidFill>
            <a:srgbClr val="FF8C42">
              <a:alpha val="5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731520" y="3063240"/>
            <a:ext cx="411600" cy="4116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731520" y="306324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9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419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1371600" y="301752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1000+ сред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1371600" y="329184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скомпрометировано. 4 ТБ данных украдено у Mercor ($10B стартап)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914400" y="3520440"/>
            <a:ext cx="18300" cy="320100"/>
          </a:xfrm>
          <a:prstGeom prst="rect">
            <a:avLst/>
          </a:prstGeom>
          <a:solidFill>
            <a:srgbClr val="FF8C42">
              <a:alpha val="5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"/>
          <p:cNvSpPr/>
          <p:nvPr/>
        </p:nvSpPr>
        <p:spPr>
          <a:xfrm>
            <a:off x="731520" y="3886200"/>
            <a:ext cx="411600" cy="41160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731520" y="3886200"/>
            <a:ext cx="411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419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0F1419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371600" y="3840480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Цепочка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1371600" y="411480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Trivy → LiteLLM → KICS → тысячи компаний. Классический supply chain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31520" y="36576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Что дальше?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Есть фреймворки, которые структурируют хаос: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731520" y="1645920"/>
            <a:ext cx="2468880" cy="20116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731520" y="1645920"/>
            <a:ext cx="2468880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914400" y="187452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OWASP Top 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for LLM 2025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914400" y="26060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10 категорий уязвимостей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с реальными кейсами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3474720" y="1645920"/>
            <a:ext cx="2468880" cy="20116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3474720" y="1645920"/>
            <a:ext cx="2468880" cy="54864"/>
          </a:xfrm>
          <a:prstGeom prst="rect">
            <a:avLst/>
          </a:prstGeom>
          <a:solidFill>
            <a:srgbClr val="7B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3657600" y="187452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MITRE ATLAS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3657600" y="26060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Kill chain: как атакующий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движется шаг за шагом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6217920" y="1645920"/>
            <a:ext cx="2468880" cy="201168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6217920" y="1645920"/>
            <a:ext cx="246888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6400800" y="1874520"/>
            <a:ext cx="21031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NIST AI RMF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/>
          <p:nvPr/>
        </p:nvSpPr>
        <p:spPr>
          <a:xfrm>
            <a:off x="6400800" y="26060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Управление рисками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на уровне организации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/>
          <p:nvPr/>
        </p:nvSpPr>
        <p:spPr>
          <a:xfrm>
            <a:off x="731520" y="4023360"/>
            <a:ext cx="7680960" cy="77724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1"/>
          <p:cNvSpPr/>
          <p:nvPr/>
        </p:nvSpPr>
        <p:spPr>
          <a:xfrm>
            <a:off x="731520" y="4023360"/>
            <a:ext cx="73152" cy="777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42062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1"/>
          <p:cNvSpPr/>
          <p:nvPr/>
        </p:nvSpPr>
        <p:spPr>
          <a:xfrm>
            <a:off x="1463040" y="4023360"/>
            <a:ext cx="6583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Следующий урок: полная карта угроз — OWASP Top 10 for LLM 2025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8200" y="137160"/>
            <a:ext cx="411480" cy="356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419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00D4AA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2"/>
          <p:cNvSpPr/>
          <p:nvPr/>
        </p:nvSpPr>
        <p:spPr>
          <a:xfrm>
            <a:off x="7132320" y="-274320"/>
            <a:ext cx="2286000" cy="2286000"/>
          </a:xfrm>
          <a:prstGeom prst="ellipse">
            <a:avLst/>
          </a:prstGeom>
          <a:solidFill>
            <a:srgbClr val="7B61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3" name="Google Shape;26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3063" y="-38350"/>
            <a:ext cx="3168325" cy="31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12"/>
          <p:cNvSpPr/>
          <p:nvPr/>
        </p:nvSpPr>
        <p:spPr>
          <a:xfrm>
            <a:off x="954400" y="2562515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Вопросы?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914400" y="380379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Telegram: </a:t>
            </a:r>
            <a:r>
              <a:rPr lang="en-US" sz="16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ai_threat_team</a:t>
            </a:r>
            <a:endParaRPr sz="1600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@james_white_116</a:t>
            </a:r>
            <a:endParaRPr sz="1600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@samoylenko23</a:t>
            </a:r>
            <a:endParaRPr sz="1600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AA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rgbClr val="00D4A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994400" y="4580940"/>
            <a:ext cx="7315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AI Threat Team: Основы безопасности AI-систем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12"/>
          <p:cNvPicPr preferRelativeResize="0"/>
          <p:nvPr/>
        </p:nvPicPr>
        <p:blipFill rotWithShape="1">
          <a:blip r:embed="rId4">
            <a:alphaModFix/>
          </a:blip>
          <a:srcRect b="0" l="0" r="0" t="37032"/>
          <a:stretch/>
        </p:blipFill>
        <p:spPr>
          <a:xfrm>
            <a:off x="6495800" y="0"/>
            <a:ext cx="2648199" cy="250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47450" y="-38350"/>
            <a:ext cx="2498250" cy="250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